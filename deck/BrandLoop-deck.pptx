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0:00–0:25 — Abrir pela tensão. Não explicar demais.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0:25–0:50 — É o slide que responde ao critério do hackathon. Onde a IA trabalha.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0:50–1:15 — A entrevista com as lideranças vem ANTES da pesquisa de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1:15–1:40 — O mérito é a CONCLUSÃO, não a infraestrutura de busca.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1:40–2:20 — O funil mostra a AÇÃO do agente, não só o nome da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2:20–2:45 — Definir o valor da assinatura antes do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2:45–3:00 — Fecho. Benchmark, não cliente.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backup. Só abrir se perguntarem o que é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8A8A86"/>
                </a:solidFill>
                <a:latin typeface="Courier New"/>
              </a:rPr>
              <a:t>HACK2L · AI AGENTS · CANASTRA VENTURES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82009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3EFE5"/>
                </a:solidFill>
                <a:latin typeface="Arial"/>
              </a:rPr>
              <a:t>A IA ensinou todo mundo a fazer anúncio.</a:t>
            </a:r>
          </a:p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D400"/>
                </a:solidFill>
                <a:latin typeface="Arial"/>
              </a:rPr>
              <a:t>E agora todo anúncio parece igual.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8A8A86"/>
                </a:solidFill>
                <a:latin typeface="Courier New"/>
              </a:rPr>
              <a:t>O QUE A BRANDLOOP 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82009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3EFE5"/>
                </a:solidFill>
                <a:latin typeface="Arial"/>
              </a:rPr>
              <a:t>Não é um prompt.</a:t>
            </a:r>
          </a:p>
          <a:p>
            <a:pPr algn="l">
              <a:lnSpc>
                <a:spcPct val="105000"/>
              </a:lnSpc>
            </a:pPr>
            <a:r>
              <a:rPr sz="2800" b="1">
                <a:solidFill>
                  <a:srgbClr val="F3EFE5"/>
                </a:solidFill>
                <a:latin typeface="Arial"/>
              </a:rPr>
              <a:t>São seis agentes com contrato entre eles.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23160"/>
            <a:ext cx="3520440" cy="169164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58775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FFD400"/>
                </a:solidFill>
                <a:latin typeface="Courier New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807208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3EFE5"/>
                </a:solidFill>
                <a:latin typeface="Arial"/>
              </a:rPr>
              <a:t>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136391"/>
            <a:ext cx="3118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8A49B"/>
                </a:solidFill>
                <a:latin typeface="Arial"/>
              </a:rPr>
              <a:t>Lê os arquivos da empresa e extrai fatos sob schema — não pode inventar o que não está no texto.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803904"/>
            <a:ext cx="3118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A8A86"/>
                </a:solidFill>
                <a:latin typeface="Courier New"/>
              </a:rPr>
              <a:t>/api/ingest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2423160"/>
            <a:ext cx="3520440" cy="169164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58775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FFD400"/>
                </a:solidFill>
                <a:latin typeface="Courier New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807208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3EFE5"/>
                </a:solidFill>
                <a:latin typeface="Arial"/>
              </a:rPr>
              <a:t>Entrevista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3136391"/>
            <a:ext cx="3118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8A49B"/>
                </a:solidFill>
                <a:latin typeface="Arial"/>
              </a:rPr>
              <a:t>Decide sozinho a próxima pergunta olhando quais campos do diagnóstico ainda estão vazios.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803904"/>
            <a:ext cx="3118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A8A86"/>
                </a:solidFill>
                <a:latin typeface="Courier New"/>
              </a:rPr>
              <a:t>/api/interview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9016" y="2423160"/>
            <a:ext cx="3520440" cy="169164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58775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FFD400"/>
                </a:solidFill>
                <a:latin typeface="Courier New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807208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3EFE5"/>
                </a:solidFill>
                <a:latin typeface="Arial"/>
              </a:rPr>
              <a:t>Mercado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3136391"/>
            <a:ext cx="3118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8A49B"/>
                </a:solidFill>
                <a:latin typeface="Arial"/>
              </a:rPr>
              <a:t>Busca conversa real e devolve o diagnóstico preenchido, com a URL de cada evidência.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3803904"/>
            <a:ext cx="3118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A8A86"/>
                </a:solidFill>
                <a:latin typeface="Courier New"/>
              </a:rPr>
              <a:t>/api/research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315968"/>
            <a:ext cx="3520440" cy="169164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48056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FFD400"/>
                </a:solidFill>
                <a:latin typeface="Courier New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700016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3EFE5"/>
                </a:solidFill>
                <a:latin typeface="Arial"/>
              </a:rPr>
              <a:t>Roteiro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5029200"/>
            <a:ext cx="3118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8A49B"/>
                </a:solidFill>
                <a:latin typeface="Arial"/>
              </a:rPr>
              <a:t>Escreve sob a rubrica de Schwartz como restrição tipada — sem prova, ele reformula.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696712"/>
            <a:ext cx="3118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A8A86"/>
                </a:solidFill>
                <a:latin typeface="Courier New"/>
              </a:rPr>
              <a:t>/api/copy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8" y="4315968"/>
            <a:ext cx="3520440" cy="169164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448056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FFD400"/>
                </a:solidFill>
                <a:latin typeface="Courier New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4700016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3EFE5"/>
                </a:solidFill>
                <a:latin typeface="Arial"/>
              </a:rPr>
              <a:t>Criativo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6" y="5029200"/>
            <a:ext cx="3118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8A49B"/>
                </a:solidFill>
                <a:latin typeface="Arial"/>
              </a:rPr>
              <a:t>Gera o vídeo vertical e o áudio com a voz da marca, por provider plugável.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5696712"/>
            <a:ext cx="3118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A8A86"/>
                </a:solidFill>
                <a:latin typeface="Courier New"/>
              </a:rPr>
              <a:t>/api/video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29016" y="4315968"/>
            <a:ext cx="3520440" cy="169164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4" y="448056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FFD400"/>
                </a:solidFill>
                <a:latin typeface="Courier New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4" y="4700016"/>
            <a:ext cx="3118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3EFE5"/>
                </a:solidFill>
                <a:latin typeface="Arial"/>
              </a:rPr>
              <a:t>Anúncio e funil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4" y="5029200"/>
            <a:ext cx="31181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A8A49B"/>
                </a:solidFill>
                <a:latin typeface="Arial"/>
              </a:rPr>
              <a:t>Publica, lê a performance e decide onde mexer, dentro de um envelope de verba.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4" y="5696712"/>
            <a:ext cx="311810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A8A86"/>
                </a:solidFill>
                <a:latin typeface="Courier New"/>
              </a:rPr>
              <a:t>/api/publish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12648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D400"/>
                </a:solidFill>
                <a:latin typeface="Arial"/>
              </a:rPr>
              <a:t>Nenhuma etapa espera humano para começar a próxima.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8A8A86"/>
                </a:solidFill>
                <a:latin typeface="Courier New"/>
              </a:rPr>
              <a:t>PRIMEIRO PASSO — A INVERSÃO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3EFE5"/>
                </a:solidFill>
                <a:latin typeface="Arial"/>
              </a:rPr>
              <a:t>A BrandLoop começa onde as outras IAs terminam: na marca.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A8A49B"/>
                </a:solidFill>
                <a:latin typeface="Arial"/>
              </a:rPr>
              <a:t>Antes de escrever uma linha, o agente entrevista as lideranças da empresa. Uma pergunta por vez, cada uma mirando só o campo que ainda falta — porque o material institucional diz o que a empresa gostaria de ser, e quem vende sabe qual objeção mata o negócio na terça-feira.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977639"/>
            <a:ext cx="3520440" cy="15544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50">
                <a:solidFill>
                  <a:srgbClr val="FF664A"/>
                </a:solidFill>
                <a:latin typeface="Courier New"/>
              </a:rPr>
              <a:t>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3EFE5"/>
                </a:solidFill>
                <a:latin typeface="Arial"/>
              </a:rPr>
              <a:t>Como a marca fala quando é ela mesma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3977639"/>
            <a:ext cx="3520440" cy="15544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42062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50">
                <a:solidFill>
                  <a:srgbClr val="9FF5D0"/>
                </a:solidFill>
                <a:latin typeface="Courier New"/>
              </a:rPr>
              <a:t>PÚBLICO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461772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3EFE5"/>
                </a:solidFill>
                <a:latin typeface="Arial"/>
              </a:rPr>
              <a:t>Quem compra, e qual objeção trava a venda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9016" y="3977639"/>
            <a:ext cx="3520440" cy="155448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42062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50">
                <a:solidFill>
                  <a:srgbClr val="A78BFA"/>
                </a:solidFill>
                <a:latin typeface="Courier New"/>
              </a:rPr>
              <a:t>ESTÉTICA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461772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3EFE5"/>
                </a:solidFill>
                <a:latin typeface="Arial"/>
              </a:rPr>
              <a:t>O que a faz reconhecível sem o logo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8A8A86"/>
                </a:solidFill>
                <a:latin typeface="Courier New"/>
              </a:rPr>
              <a:t>SÓ DEPOIS — A VERIFICAÇÃO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3EFE5"/>
                </a:solidFill>
                <a:latin typeface="Arial"/>
              </a:rPr>
              <a:t>Aí sim ele confere lá fora se é isso mesmo.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48840"/>
            <a:ext cx="10820095" cy="123444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orilla-logo-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377440"/>
            <a:ext cx="561340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20240" y="239572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50">
                <a:solidFill>
                  <a:srgbClr val="8A8A86"/>
                </a:solidFill>
                <a:latin typeface="Courier New"/>
              </a:rPr>
              <a:t>ANÁLISE DE MERCADO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6974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A8A49B"/>
                </a:solidFill>
                <a:latin typeface="Arial"/>
              </a:rPr>
              <a:t>Reddit · X · Bluesky · LinkedIn · YouTube — conversa real, em tempo real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611880"/>
            <a:ext cx="2567863" cy="13716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840480"/>
            <a:ext cx="216552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3EFE5"/>
                </a:solidFill>
                <a:latin typeface="Arial"/>
              </a:rPr>
              <a:t>1.516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526280"/>
            <a:ext cx="21655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120">
                <a:solidFill>
                  <a:srgbClr val="8A8A86"/>
                </a:solidFill>
                <a:latin typeface="Courier New"/>
              </a:rPr>
              <a:t>CONVERSAS REAIS LIDAS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6543" y="3611880"/>
            <a:ext cx="2567863" cy="13716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7711" y="3840480"/>
            <a:ext cx="216552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3EFE5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7711" y="4526280"/>
            <a:ext cx="21655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120">
                <a:solidFill>
                  <a:srgbClr val="8A8A86"/>
                </a:solidFill>
                <a:latin typeface="Courier New"/>
              </a:rPr>
              <a:t>PLATAFORMAS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7287" y="3611880"/>
            <a:ext cx="2567863" cy="13716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8455" y="3840480"/>
            <a:ext cx="216552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3EFE5"/>
                </a:solidFill>
                <a:latin typeface="Arial"/>
              </a:rPr>
              <a:t>&lt; 3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8455" y="4526280"/>
            <a:ext cx="21655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120">
                <a:solidFill>
                  <a:srgbClr val="8A8A86"/>
                </a:solidFill>
                <a:latin typeface="Courier New"/>
              </a:rPr>
              <a:t>MENOS QUE ESTE PITCH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38031" y="3611880"/>
            <a:ext cx="2567863" cy="13716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9199" y="3840480"/>
            <a:ext cx="216552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D400"/>
                </a:solidFill>
                <a:latin typeface="Arial"/>
              </a:rPr>
              <a:t>US$ 0,89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9199" y="4526280"/>
            <a:ext cx="21655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spc="120">
                <a:solidFill>
                  <a:srgbClr val="8A8A86"/>
                </a:solidFill>
                <a:latin typeface="Courier New"/>
              </a:rPr>
              <a:t>CUSTO TOTAL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4924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3EFE5"/>
                </a:solidFill>
                <a:latin typeface="Arial"/>
              </a:rPr>
              <a:t>E o que ele concluiu: </a:t>
            </a:r>
            <a:r>
              <a:rPr sz="1300" b="0">
                <a:solidFill>
                  <a:srgbClr val="A8A49B"/>
                </a:solidFill>
                <a:latin typeface="Arial"/>
              </a:rPr>
              <a:t>esse mercado não quer mais uma promessa de venda — quer parar de fazer a conta de madrugada.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8A8A86"/>
                </a:solidFill>
                <a:latin typeface="Courier New"/>
              </a:rPr>
              <a:t>IDENTIDADE VIRA CRIATIVO — E O CRIATIVO PERSEGUE A VENDA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914400"/>
            <a:ext cx="5309463" cy="16002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48522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8A8A86"/>
                </a:solidFill>
                <a:latin typeface="Courier New"/>
              </a:rPr>
              <a:t>QUALQUER IA · MESMO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8522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8A8A86"/>
                </a:solidFill>
                <a:latin typeface="Arial"/>
              </a:rPr>
              <a:t>“Cadastre seu restaurante no iFood e venda mais!”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6431" y="914400"/>
            <a:ext cx="5309463" cy="16002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5031" y="1097280"/>
            <a:ext cx="485226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FFD400"/>
                </a:solidFill>
                <a:latin typeface="Courier New"/>
              </a:rPr>
              <a:t>COM A MARCA LIDA 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5031" y="1463040"/>
            <a:ext cx="485226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F3EFE5"/>
                </a:solidFill>
                <a:latin typeface="Arial"/>
              </a:rPr>
              <a:t>“Toda taxa zero tem prazo de validade. Aqui a taxa fica na mesa — e quem faz a conta somos nós.”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8A49B"/>
                </a:solidFill>
                <a:latin typeface="Arial"/>
              </a:rPr>
              <a:t>Ele não chutou o ângulo: leu que a dor é hora perdida na planilha e taxa que só aparece depois. </a:t>
            </a:r>
            <a:r>
              <a:rPr sz="1200" b="0">
                <a:solidFill>
                  <a:srgbClr val="FFD400"/>
                </a:solidFill>
                <a:latin typeface="Arial"/>
              </a:rPr>
              <a:t>E não para no vídeo — passa a ler o funil e agir onde ele vaza.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20440"/>
            <a:ext cx="2046975" cy="2103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8A8A86"/>
                </a:solidFill>
                <a:latin typeface="Courier New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50208"/>
            <a:ext cx="1681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3EFE5"/>
                </a:solidFill>
                <a:latin typeface="Arial"/>
              </a:rPr>
              <a:t>Interação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34840"/>
            <a:ext cx="168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8A49B"/>
                </a:solidFill>
                <a:latin typeface="Arial"/>
              </a:rPr>
              <a:t>Ninguém para no vídeo?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29200"/>
            <a:ext cx="1681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D400"/>
                </a:solidFill>
                <a:latin typeface="Arial"/>
              </a:rPr>
              <a:t>Reescreve o gancho.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79079" y="3520440"/>
            <a:ext cx="2046975" cy="2103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1959" y="370332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8A8A86"/>
                </a:solidFill>
                <a:latin typeface="Courier New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1959" y="3950208"/>
            <a:ext cx="1681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3EFE5"/>
                </a:solidFill>
                <a:latin typeface="Arial"/>
              </a:rPr>
              <a:t>Clique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1959" y="4434840"/>
            <a:ext cx="168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8A49B"/>
                </a:solidFill>
                <a:latin typeface="Arial"/>
              </a:rPr>
              <a:t>Assiste e não clica?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1959" y="5029200"/>
            <a:ext cx="1681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D400"/>
                </a:solidFill>
                <a:latin typeface="Arial"/>
              </a:rPr>
              <a:t>Troca a promessa.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2359" y="3520440"/>
            <a:ext cx="2046975" cy="2103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5239" y="370332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8A8A86"/>
                </a:solidFill>
                <a:latin typeface="Courier New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5239" y="3950208"/>
            <a:ext cx="1681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3EFE5"/>
                </a:solidFill>
                <a:latin typeface="Arial"/>
              </a:rPr>
              <a:t>Landing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5239" y="4434840"/>
            <a:ext cx="168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8A49B"/>
                </a:solidFill>
                <a:latin typeface="Arial"/>
              </a:rPr>
              <a:t>Entra e sai na hora?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5239" y="5029200"/>
            <a:ext cx="1681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D400"/>
                </a:solidFill>
                <a:latin typeface="Arial"/>
              </a:rPr>
              <a:t>Testa outra página.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5639" y="3520440"/>
            <a:ext cx="2046975" cy="210312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48519" y="370332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8A8A86"/>
                </a:solidFill>
                <a:latin typeface="Courier New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8519" y="3950208"/>
            <a:ext cx="1681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3EFE5"/>
                </a:solidFill>
                <a:latin typeface="Arial"/>
              </a:rPr>
              <a:t>Oferta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8519" y="4434840"/>
            <a:ext cx="168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A8A49B"/>
                </a:solidFill>
                <a:latin typeface="Arial"/>
              </a:rPr>
              <a:t>Chega e não fecha?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8519" y="5029200"/>
            <a:ext cx="1681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D400"/>
                </a:solidFill>
                <a:latin typeface="Arial"/>
              </a:rPr>
              <a:t>Reposiciona a oferta.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58919" y="3520440"/>
            <a:ext cx="2046975" cy="21031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1799" y="370332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spc="120">
                <a:solidFill>
                  <a:srgbClr val="0A0A0A"/>
                </a:solidFill>
                <a:latin typeface="Courier New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1799" y="3950208"/>
            <a:ext cx="1681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0A0A"/>
                </a:solidFill>
                <a:latin typeface="Arial"/>
              </a:rPr>
              <a:t>Venda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1799" y="4434840"/>
            <a:ext cx="16812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A0A0A"/>
                </a:solidFill>
                <a:latin typeface="Arial"/>
              </a:rPr>
              <a:t>A tag devolve o sinal.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1799" y="5029200"/>
            <a:ext cx="1681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0A0A0A"/>
                </a:solidFill>
                <a:latin typeface="Arial"/>
              </a:rPr>
              <a:t>O diagnóstico aprende.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8A8A86"/>
                </a:solidFill>
                <a:latin typeface="Courier New"/>
              </a:rPr>
              <a:t>QUEM PAGA — E POR QUE NÃO COPIAM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3EFE5"/>
                </a:solidFill>
                <a:latin typeface="Arial"/>
              </a:rPr>
              <a:t>O contrato é com a rede, não com a loja.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8A8A86"/>
                </a:solidFill>
                <a:latin typeface="Courier New"/>
              </a:rPr>
              <a:t>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837943"/>
            <a:ext cx="82597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3EFE5"/>
                </a:solidFill>
                <a:latin typeface="Arial"/>
              </a:rPr>
              <a:t>Rede e franquia de varejo local. Vende uma vez, atende N unidades.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404872"/>
            <a:ext cx="10820095" cy="1097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24327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8A8A86"/>
                </a:solidFill>
                <a:latin typeface="Courier New"/>
              </a:rPr>
              <a:t>TAMANHO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587751"/>
            <a:ext cx="82597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3EFE5"/>
                </a:solidFill>
                <a:latin typeface="Arial"/>
              </a:rPr>
              <a:t>Só o iFood tem 500 mil estabelecimentos em 1.500 cidades. É o piso.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154679"/>
            <a:ext cx="10820095" cy="1097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74135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8A8A86"/>
                </a:solidFill>
                <a:latin typeface="Courier New"/>
              </a:rPr>
              <a:t>ALTERNATIVA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337559"/>
            <a:ext cx="82597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3EFE5"/>
                </a:solidFill>
                <a:latin typeface="Arial"/>
              </a:rPr>
              <a:t>Quatro fornecedores — pesquisa, redator, produtora, tráfego. Ou uma planilha vendida no YouTube.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04487"/>
            <a:ext cx="10820095" cy="1097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23944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8A8A86"/>
                </a:solidFill>
                <a:latin typeface="Courier New"/>
              </a:rPr>
              <a:t>MODELO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087368"/>
            <a:ext cx="82597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3EFE5"/>
                </a:solidFill>
                <a:latin typeface="Arial"/>
              </a:rPr>
              <a:t>Assinatura por unidade/mês.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654296"/>
            <a:ext cx="10820095" cy="1097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873752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8A8A86"/>
                </a:solidFill>
                <a:latin typeface="Courier New"/>
              </a:rPr>
              <a:t>CUSTO DE EXECUÇÃO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4837176"/>
            <a:ext cx="82597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3EFE5"/>
                </a:solidFill>
                <a:latin typeface="Arial"/>
              </a:rPr>
              <a:t>Uma análise de mercado completa custou US$ 0,89. Medido, não estimado.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404104"/>
            <a:ext cx="10820095" cy="1097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623560"/>
            <a:ext cx="2377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8A8A86"/>
                </a:solidFill>
                <a:latin typeface="Courier New"/>
              </a:rPr>
              <a:t>DEFENSIBILIDADE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586984"/>
            <a:ext cx="8259775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>
                <a:solidFill>
                  <a:srgbClr val="F3EFE5"/>
                </a:solidFill>
                <a:latin typeface="Arial"/>
              </a:rPr>
              <a:t>Cada campanha devolve o que converteu, para quem e com qual mecanismo. Copia-se o prompt numa tarde; não se copia o histórico.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153912"/>
            <a:ext cx="10820095" cy="10972"/>
          </a:xfrm>
          <a:prstGeom prst="rect">
            <a:avLst/>
          </a:prstGeom>
          <a:solidFill>
            <a:srgbClr val="2A2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4168" y="141732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A0A0A"/>
                </a:solidFill>
                <a:latin typeface="Arial"/>
              </a:rPr>
              <a:t>brandloop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A0A0A"/>
                </a:solidFill>
                <a:latin typeface="Arial"/>
              </a:rPr>
              <a:t>A IA que aprende a sua marca antes de falar por ela.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63440"/>
            <a:ext cx="8412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2C2C22"/>
                </a:solidFill>
                <a:latin typeface="Arial"/>
              </a:rPr>
              <a:t>Não somos a agência do iFood — ele é o caso mais difícil do Brasil agora, e vocês conseguem verificar tudo o que o agente concluiu.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120">
                <a:solidFill>
                  <a:srgbClr val="8A8A86"/>
                </a:solidFill>
                <a:latin typeface="Courier New"/>
              </a:rPr>
              <a:t>BACKUP — NÃO APRESENTAR · ABRIR SE PERGUNTAREM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3EFE5"/>
                </a:solidFill>
                <a:latin typeface="Arial"/>
              </a:rPr>
              <a:t>O que é real e o que é simulado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20">
                <a:solidFill>
                  <a:srgbClr val="9FF5D0"/>
                </a:solidFill>
                <a:latin typeface="Courier New"/>
              </a:rPr>
              <a:t>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2057400"/>
            <a:ext cx="92656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F3EFE5"/>
                </a:solidFill>
                <a:latin typeface="Arial"/>
              </a:rPr>
              <a:t>Contexto e entrevista — /api/ingest e /api/interview, adapter Anthropic + OpenAI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20">
                <a:solidFill>
                  <a:srgbClr val="9FF5D0"/>
                </a:solidFill>
                <a:latin typeface="Courier New"/>
              </a:rPr>
              <a:t>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743200"/>
            <a:ext cx="92656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F3EFE5"/>
                </a:solidFill>
                <a:latin typeface="Arial"/>
              </a:rPr>
              <a:t>Análise de mercado — /api/research, Gorilla API, 1.516 conversas, search_id verificável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20">
                <a:solidFill>
                  <a:srgbClr val="9FF5D0"/>
                </a:solidFill>
                <a:latin typeface="Courier New"/>
              </a:rPr>
              <a:t>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3429000"/>
            <a:ext cx="92656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F3EFE5"/>
                </a:solidFill>
                <a:latin typeface="Arial"/>
              </a:rPr>
              <a:t>Roteiro e criativo — /api/copy e /api/video, providers plugáveis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20">
                <a:solidFill>
                  <a:srgbClr val="8A8A86"/>
                </a:solidFill>
                <a:latin typeface="Courier New"/>
              </a:rPr>
              <a:t>SIMULADO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4114800"/>
            <a:ext cx="92656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F3EFE5"/>
                </a:solidFill>
                <a:latin typeface="Arial"/>
              </a:rPr>
              <a:t>Publicação e campanha — simulado: true forçado pelo contrato de tipos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463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20">
                <a:solidFill>
                  <a:srgbClr val="8A8A86"/>
                </a:solidFill>
                <a:latin typeface="Courier New"/>
              </a:rPr>
              <a:t>SIMULADO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800600"/>
            <a:ext cx="92656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F3EFE5"/>
                </a:solidFill>
                <a:latin typeface="Arial"/>
              </a:rPr>
              <a:t>Performance — ROAS de 8 semanas não cabe em 5 horas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715000"/>
            <a:ext cx="108200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A8A49B"/>
                </a:solidFill>
                <a:latin typeface="Arial"/>
              </a:rPr>
              <a:t>A performance roda em ambiente de simulação — o mesmo harness que usaríamos para evals em produção. </a:t>
            </a:r>
            <a:r>
              <a:rPr sz="1300" b="0">
                <a:solidFill>
                  <a:srgbClr val="FFD400"/>
                </a:solidFill>
                <a:latin typeface="Arial"/>
              </a:rPr>
              <a:t>A diferença entre esconder e escolher é o que estamos mostrando aqui.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