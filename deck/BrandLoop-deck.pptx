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0:00–0:25 — Abrir pela tensão. Não explicar demais.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0:25–0:50 — É o slide que responde ao critério do hackathon. Onde a IA trabalha.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0:50–1:15 — A entrevista com as lideranças vem ANTES da pesquisa de mercado.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1:15–1:40 — O mérito é a CONCLUSÃO, não a infraestrutura de busca.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1:40–2:20 — O funil mostra a AÇÃO do agente, não só o nome da etapa.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2:10–2:30 — O argumento nao e o tamanho, e que o dinheiro JA esta sendo gasto.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2:20–2:45 — Definir o valor da assinatura antes do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2:45–3:00 — Fecho. Benchmark, não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HACK2L · AI AGENTS · CANASTRA VENTURES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77440"/>
            <a:ext cx="108200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>
                <a:solidFill>
                  <a:srgbClr val="F3EFE5"/>
                </a:solidFill>
                <a:latin typeface="Arial"/>
              </a:rPr>
              <a:t>A IA ensinou todo mundo a fazer anúncio.</a:t>
            </a:r>
          </a:p>
          <a:p>
            <a:pPr algn="l">
              <a:lnSpc>
                <a:spcPct val="100000"/>
              </a:lnSpc>
            </a:pPr>
            <a:r>
              <a:rPr sz="4800" b="1">
                <a:solidFill>
                  <a:srgbClr val="FFD400"/>
                </a:solidFill>
                <a:latin typeface="Arial"/>
              </a:rPr>
              <a:t>E agora todo anúncio parece igual.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QUE A BRANDLOOP 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82009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Não é um prompt.</a:t>
            </a:r>
          </a:p>
          <a:p>
            <a:pPr algn="l">
              <a:lnSpc>
                <a:spcPct val="105000"/>
              </a:lnSpc>
            </a:pPr>
            <a:r>
              <a:rPr sz="2800" b="1">
                <a:solidFill>
                  <a:srgbClr val="F3EFE5"/>
                </a:solidFill>
                <a:latin typeface="Arial"/>
              </a:rPr>
              <a:t>São seis agentes com contrato entre eles.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Contexto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Lê os arquivos da empresa e extrai fatos sob schema — não pode inventar o que não está no texto.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/api/ingest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7408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8576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576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Entrevista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08576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Decide sozinho a próxima pergunta olhando quais campos do diagnóstico ainda estão vazios.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8576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/api/interview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9016" y="2423160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0184" y="2587752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807208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Mercado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3136391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Busca conversa real e devolve o diagnóstico preenchido, com a URL de cada evidência.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3803904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/api/research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Roteiro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Escreve sob a rubrica de Schwartz como restrição tipada — sem prova, ele reformula.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/api/copy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07408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8576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Criativo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08576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Gera o vídeo vertical e o áudio com a voz da marca, por provider plugável.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8576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/api/video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9016" y="4315968"/>
            <a:ext cx="3520440" cy="16916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0184" y="448056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0184" y="4700016"/>
            <a:ext cx="31181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Anúncio e funil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0184" y="5029200"/>
            <a:ext cx="311810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A8A49B"/>
                </a:solidFill>
                <a:latin typeface="Arial"/>
              </a:rPr>
              <a:t>Publica, lê a performance e decide onde mexer, dentro de um envelope de verba.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0184" y="5696712"/>
            <a:ext cx="311810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A8A86"/>
                </a:solidFill>
                <a:latin typeface="Courier New"/>
              </a:rPr>
              <a:t>/api/publish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12648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FFD400"/>
                </a:solidFill>
                <a:latin typeface="Arial"/>
              </a:rPr>
              <a:t>Nenhuma etapa espera humano para começar a próxima.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PRIMEIRO PASSO — A INVERSÃO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 BrandLoop começa onde as outras IAs terminam: na marca.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68880"/>
            <a:ext cx="9692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Antes de escrever uma linha, o agente entrevista as lideranças da empresa. Uma pergunta por vez, cada uma mirando só o campo que ainda falta — porque o material institucional diz o que a empresa gostaria de ser, e quem vende sabe qual objeção mata o negócio na terça-feira.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FF664A"/>
                </a:solidFill>
                <a:latin typeface="Courier New"/>
              </a:rPr>
              <a:t>TOM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Como a marca fala quando é ela mesma</a:t>
            </a:r>
          </a:p>
        </p:txBody>
      </p:sp>
      <p:sp>
        <p:nvSpPr>
          <p:cNvPr id="9" name="Rectangle 8"/>
          <p:cNvSpPr/>
          <p:nvPr/>
        </p:nvSpPr>
        <p:spPr>
          <a:xfrm>
            <a:off x="4407408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8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9FF5D0"/>
                </a:solidFill>
                <a:latin typeface="Courier New"/>
              </a:rPr>
              <a:t>PÚBLICO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Quem compra, e qual objeção trava a venda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29016" y="3977639"/>
            <a:ext cx="3520440" cy="155448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420624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150">
                <a:solidFill>
                  <a:srgbClr val="A78BFA"/>
                </a:solidFill>
                <a:latin typeface="Courier New"/>
              </a:rPr>
              <a:t>ESTÉTICA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7616" y="46177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3EFE5"/>
                </a:solidFill>
                <a:latin typeface="Arial"/>
              </a:rPr>
              <a:t>O que a faz reconhecível sem o logo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SÓ DEPOIS — A VERIFICAÇÃO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Aí sim ele confere lá fora se é isso mesmo.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148840"/>
            <a:ext cx="10820095" cy="123444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orilla-logo-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377440"/>
            <a:ext cx="5613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20240" y="2395728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50">
                <a:solidFill>
                  <a:srgbClr val="8A8A86"/>
                </a:solidFill>
                <a:latin typeface="Courier New"/>
              </a:rPr>
              <a:t>ANÁLISE DE MERCADO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697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A8A49B"/>
                </a:solidFill>
                <a:latin typeface="Arial"/>
              </a:rPr>
              <a:t>Reddit · X · Bluesky · LinkedIn · YouTube — conversa real, em tempo real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1.516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CONVERSAS REAIS LIDAS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36543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7711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7711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PLATAFORMAS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8455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3EFE5"/>
                </a:solidFill>
                <a:latin typeface="Arial"/>
              </a:rPr>
              <a:t>&lt; 3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8455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MENOS QUE ESTE PITCH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38031" y="3611880"/>
            <a:ext cx="2567863" cy="13716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9199" y="3840480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D400"/>
                </a:solidFill>
                <a:latin typeface="Arial"/>
              </a:rPr>
              <a:t>US$ 0,89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9199" y="4526280"/>
            <a:ext cx="216552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spc="120">
                <a:solidFill>
                  <a:srgbClr val="8A8A86"/>
                </a:solidFill>
                <a:latin typeface="Courier New"/>
              </a:rPr>
              <a:t>CUSTO TOTAL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492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F3EFE5"/>
                </a:solidFill>
                <a:latin typeface="Arial"/>
              </a:rPr>
              <a:t>E o que ele concluiu: </a:t>
            </a:r>
            <a:r>
              <a:rPr sz="1300" b="0">
                <a:solidFill>
                  <a:srgbClr val="A8A49B"/>
                </a:solidFill>
                <a:latin typeface="Arial"/>
              </a:rPr>
              <a:t>esse mercado não quer mais uma promessa de venda — quer parar de fazer a conta de madrugada.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02920"/>
            <a:ext cx="9144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IDENTIDADE VIRA CRIATIVO — E O CRIATIVO PERSEGUE A VENDA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QUALQUER IA · MESMO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485226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A8A86"/>
                </a:solidFill>
                <a:latin typeface="Arial"/>
              </a:rPr>
              <a:t>“Cadastre seu restaurante no iFood e venda mais!”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6431" y="914400"/>
            <a:ext cx="5309463" cy="16002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5031" y="1097280"/>
            <a:ext cx="4852263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FFD400"/>
                </a:solidFill>
                <a:latin typeface="Courier New"/>
              </a:rPr>
              <a:t>COM A MARCA LIDA 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5031" y="1463040"/>
            <a:ext cx="4852263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3EFE5"/>
                </a:solidFill>
                <a:latin typeface="Arial"/>
              </a:rPr>
              <a:t>“Toda taxa zero tem prazo de validade. Aqui a taxa fica na mesa — e quem faz a conta somos nós.”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432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A8A49B"/>
                </a:solidFill>
                <a:latin typeface="Arial"/>
              </a:rPr>
              <a:t>Ele não chutou o ângulo: leu que a dor é hora perdida na planilha e taxa que só aparece depois. </a:t>
            </a:r>
            <a:r>
              <a:rPr sz="1200" b="0">
                <a:solidFill>
                  <a:srgbClr val="FFD400"/>
                </a:solidFill>
                <a:latin typeface="Arial"/>
              </a:rPr>
              <a:t>E não para no vídeo — passa a ler o funil e agir onde ele vaza.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Interação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Ninguém para no vídeo?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Reescreve o gancho.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7907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195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195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Clique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195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Assiste e não clica?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195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Troca a promessa.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235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5523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523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Landing page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523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Entra e sai na hora?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523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Testa outra página.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65639" y="3520440"/>
            <a:ext cx="2046975" cy="21031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4851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851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3EFE5"/>
                </a:solidFill>
                <a:latin typeface="Arial"/>
              </a:rPr>
              <a:t>Oferta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4851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A8A49B"/>
                </a:solidFill>
                <a:latin typeface="Arial"/>
              </a:rPr>
              <a:t>Chega e não fecha?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4851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FFD400"/>
                </a:solidFill>
                <a:latin typeface="Arial"/>
              </a:rPr>
              <a:t>Reposiciona a oferta.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8919" y="3520440"/>
            <a:ext cx="2046975" cy="210312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41799" y="3703320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0A0A0A"/>
                </a:solidFill>
                <a:latin typeface="Courier New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1799" y="3950208"/>
            <a:ext cx="16812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A0A0A"/>
                </a:solidFill>
                <a:latin typeface="Arial"/>
              </a:rPr>
              <a:t>Venda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1799" y="4434840"/>
            <a:ext cx="168121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A0A0A"/>
                </a:solidFill>
                <a:latin typeface="Arial"/>
              </a:rPr>
              <a:t>A tag devolve o sinal.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1799" y="5029200"/>
            <a:ext cx="168121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>
                <a:solidFill>
                  <a:srgbClr val="0A0A0A"/>
                </a:solidFill>
                <a:latin typeface="Arial"/>
              </a:rPr>
              <a:t>O diagnóstico aprende.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O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3EFE5"/>
                </a:solidFill>
                <a:latin typeface="Arial"/>
              </a:rPr>
              <a:t>Ninguém precisa ser convencido a gastar.</a:t>
            </a:r>
          </a:p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D400"/>
                </a:solidFill>
                <a:latin typeface="Arial"/>
              </a:rPr>
              <a:t>Já gastam R$ 42,7 bilhões.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D400"/>
                </a:solidFill>
                <a:latin typeface="Arial"/>
              </a:rPr>
              <a:t>R$ 42,7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MÍDIA DIGITAL NO BRASIL, 2025</a:t>
            </a:r>
          </a:p>
        </p:txBody>
      </p:sp>
      <p:sp>
        <p:nvSpPr>
          <p:cNvPr id="8" name="Rectangle 7"/>
          <p:cNvSpPr/>
          <p:nvPr/>
        </p:nvSpPr>
        <p:spPr>
          <a:xfrm>
            <a:off x="3436543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37711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EFE5"/>
                </a:solidFill>
                <a:latin typeface="Arial"/>
              </a:rPr>
              <a:t>+12,7%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7711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CRESCIMENTO NO ANO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8455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EFE5"/>
                </a:solidFill>
                <a:latin typeface="Arial"/>
              </a:rPr>
              <a:t>81%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455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EM REDES SOCIAIS E BUSCA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38031" y="2880360"/>
            <a:ext cx="2567863" cy="141732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9199" y="3127248"/>
            <a:ext cx="216552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3EFE5"/>
                </a:solidFill>
                <a:latin typeface="Arial"/>
              </a:rPr>
              <a:t>204.908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9199" y="3794760"/>
            <a:ext cx="216552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spc="120">
                <a:solidFill>
                  <a:srgbClr val="8A8A86"/>
                </a:solidFill>
                <a:latin typeface="Courier New"/>
              </a:rPr>
              <a:t>UNIDADES FRANQUEADAS NO 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7200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A8A49B"/>
                </a:solidFill>
                <a:latin typeface="Arial"/>
              </a:rPr>
              <a:t>Aqueles 81% caem exatamente onde o agente opera. </a:t>
            </a:r>
            <a:r>
              <a:rPr sz="1300" b="0">
                <a:solidFill>
                  <a:srgbClr val="FFD400"/>
                </a:solidFill>
                <a:latin typeface="Arial"/>
              </a:rPr>
              <a:t>Não precisamos criar mercado — precisamos capturar uma fatia de uma verba que já existe e cresce dois dígitos ao ano.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00" b="0">
                <a:solidFill>
                  <a:srgbClr val="8A8A86"/>
                </a:solidFill>
                <a:latin typeface="Courier New"/>
              </a:rPr>
              <a:t>FONTES: IAB BRASIL + IBOPE, DIGITAL ADSPEND 2026 · ABF, MARÇO DE 2026 · ABRASEL: R$ 495 BI EM ALIMENTAÇÃO FORA DO LAR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48640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QUEM PAGA — E POR QUE NÃO COPIAM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96012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3EFE5"/>
                </a:solidFill>
                <a:latin typeface="Arial"/>
              </a:rPr>
              <a:t>O contrato é com a rede, não com a loja.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CLIENTE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46120" y="1837943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Rede e franquia de varejo local. Vende uma vez, atende N unidades.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0487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24327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PORTA DE ENTRADA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587751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Food-service: R$ 495 bilhões em alimentação fora do lar, e 500 mil estabelecimentos só no iFood.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154679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374135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ALTERNATIVA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3337559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Quatro fornecedores — pesquisa, redator, produtora, tráfego. Ou uma planilha vendida no YouTube.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04487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123944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MODELO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087368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Assinatura por unidade/mês.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654296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CUSTO DE EXECUÇÃO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4837176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Uma análise de mercado completa custou US$ 0,89. Medido, não estimado.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404104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623560"/>
            <a:ext cx="23774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spc="120">
                <a:solidFill>
                  <a:srgbClr val="8A8A86"/>
                </a:solidFill>
                <a:latin typeface="Courier New"/>
              </a:rPr>
              <a:t>DEFENSIBILIDADE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586984"/>
            <a:ext cx="8259775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>
                <a:solidFill>
                  <a:srgbClr val="F3EFE5"/>
                </a:solidFill>
                <a:latin typeface="Arial"/>
              </a:rPr>
              <a:t>Cada campanha devolve o que converteu, para quem e com qual mecanismo. Copia-se o prompt numa tarde; não se copia o histórico.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6153912"/>
            <a:ext cx="10820095" cy="10972"/>
          </a:xfrm>
          <a:prstGeom prst="rect">
            <a:avLst/>
          </a:prstGeom>
          <a:solidFill>
            <a:srgbClr val="2A2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D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85800" y="1371600"/>
            <a:ext cx="502920" cy="50292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44168" y="141732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A0A0A"/>
                </a:solidFill>
                <a:latin typeface="Arial"/>
              </a:rPr>
              <a:t>brandloop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377440"/>
            <a:ext cx="93268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0A0A0A"/>
                </a:solidFill>
                <a:latin typeface="Arial"/>
              </a:rPr>
              <a:t>A IA que aprende a sua marca antes de falar por ela.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2C2C22"/>
                </a:solidFill>
                <a:latin typeface="Arial"/>
              </a:rPr>
              <a:t>Não somos a agência do iFood — ele é o caso mais difícil do Brasil agora, e vocês conseguem verificar tudo o que o agente concluiu.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