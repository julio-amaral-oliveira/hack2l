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0:00–0:25 — Abrir pela tensão. Não explicar demais.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0:25–0:50 — É o slide que responde ao critério do hackathon. Onde a IA trabalha.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0:50–1:15 — A entrevista com as lideranças vem ANTES da pesquisa de mercado.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1:15–1:40 — O mérito é a CONCLUSÃO, não a infraestrutura de busca.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1:40–2:20 — O funil mostra a AÇÃO do agente, não só o nome da etapa.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2:20–2:45 — Definir o valor da assinatura antes do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2:45–3:00 — Fecho. Benchmark, não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backup. Só abrir se perguntarem o que é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HACK2L · AI AGENTS · CANASTRA VENTURES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08200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3EFE5"/>
                </a:solidFill>
                <a:latin typeface="Arial"/>
              </a:rPr>
              <a:t>A IA ensinou todo mundo a fazer anúncio.</a:t>
            </a:r>
          </a:p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D400"/>
                </a:solidFill>
                <a:latin typeface="Arial"/>
              </a:rPr>
              <a:t>E agora todo anúncio parece igual.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O QUE A BRANDLOOP 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3EFE5"/>
                </a:solidFill>
                <a:latin typeface="Arial"/>
              </a:rPr>
              <a:t>Não é um prompt.</a:t>
            </a:r>
          </a:p>
          <a:p>
            <a:pPr algn="l">
              <a:lnSpc>
                <a:spcPct val="105000"/>
              </a:lnSpc>
            </a:pPr>
            <a:r>
              <a:rPr sz="2800" b="1">
                <a:solidFill>
                  <a:srgbClr val="F3EFE5"/>
                </a:solidFill>
                <a:latin typeface="Arial"/>
              </a:rPr>
              <a:t>São seis agentes com contrato entre eles.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23160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58775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807208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136391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Lê os arquivos da empresa e extrai fatos sob schema — não pode inventar o que não está no texto.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803904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/api/ingest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2423160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58775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807208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Entrevista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3136391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Decide sozinho a próxima pergunta olhando quais campos do diagnóstico ainda estão vazios.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3803904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/api/interview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9016" y="2423160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4" y="258775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2807208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Mercado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4" y="3136391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Busca conversa real e devolve o diagnóstico preenchido, com a URL de cada evidência.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4" y="3803904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/api/research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315968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44805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4700016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Roteiro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5029200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Escreve sob a rubrica de Schwartz como restrição tipada — sem prova, ele reformula.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569671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/api/copy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07408" y="4315968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8576" y="44805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08576" y="4700016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Criativo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8576" y="5029200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Gera o vídeo vertical e o áudio com a voz da marca, por provider plugável.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8576" y="569671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/api/video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9016" y="4315968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0184" y="44805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4" y="4700016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Anúncio e funil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0184" y="5029200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Publica, lê a performance e decide onde mexer, dentro de um envelope de verba.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0184" y="569671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/api/publish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12648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FD400"/>
                </a:solidFill>
                <a:latin typeface="Arial"/>
              </a:rPr>
              <a:t>Nenhuma etapa espera humano para começar a próxima.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PRIMEIRO PASSO — A INVERSÃO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3EFE5"/>
                </a:solidFill>
                <a:latin typeface="Arial"/>
              </a:rPr>
              <a:t>A BrandLoop começa onde as outras IAs terminam: na marca.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9692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A49B"/>
                </a:solidFill>
                <a:latin typeface="Arial"/>
              </a:rPr>
              <a:t>Antes de escrever uma linha, o agente entrevista as lideranças da empresa. Uma pergunta por vez, cada uma mirando só o campo que ainda falta — porque o material institucional diz o que a empresa gostaria de ser, e quem vende sabe qual objeção mata o negócio na terça-feira.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FF664A"/>
                </a:solidFill>
                <a:latin typeface="Courier New"/>
              </a:rPr>
              <a:t>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Como a marca fala quando é ela mesma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7408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9FF5D0"/>
                </a:solidFill>
                <a:latin typeface="Courier New"/>
              </a:rPr>
              <a:t>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Quem compra, e qual objeção trava a venda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9016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A78BFA"/>
                </a:solidFill>
                <a:latin typeface="Courier New"/>
              </a:rPr>
              <a:t>ESTÉTICA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O que a faz reconhecível sem o logo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SÓ DEPOIS — A VERIFICAÇÃO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3EFE5"/>
                </a:solidFill>
                <a:latin typeface="Arial"/>
              </a:rPr>
              <a:t>Aí sim ele confere lá fora se é isso mesmo.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48840"/>
            <a:ext cx="10820095" cy="12344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rilla-logo-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377440"/>
            <a:ext cx="561340" cy="777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20240" y="239572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50">
                <a:solidFill>
                  <a:srgbClr val="8A8A86"/>
                </a:solidFill>
                <a:latin typeface="Courier New"/>
              </a:rPr>
              <a:t>ANÁLISE DE MERCADO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6974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A8A49B"/>
                </a:solidFill>
                <a:latin typeface="Arial"/>
              </a:rPr>
              <a:t>Reddit · X · Bluesky · LinkedIn · YouTube — conversa real, em tempo real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611880"/>
            <a:ext cx="3520440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3EFE5"/>
                </a:solidFill>
                <a:latin typeface="Arial"/>
              </a:rPr>
              <a:t>1.516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CONVERSAS REAIS LIDAS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3611880"/>
            <a:ext cx="3520440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384048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3EFE5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452628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PLATAFORMAS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9016" y="3611880"/>
            <a:ext cx="3520440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384048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3EFE5"/>
                </a:solidFill>
                <a:latin typeface="Arial"/>
              </a:rPr>
              <a:t>&lt; 3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452628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MENOS QUE ESTE PITCH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3492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3EFE5"/>
                </a:solidFill>
                <a:latin typeface="Arial"/>
              </a:rPr>
              <a:t>E o que ele concluiu: </a:t>
            </a:r>
            <a:r>
              <a:rPr sz="1300" b="0">
                <a:solidFill>
                  <a:srgbClr val="A8A49B"/>
                </a:solidFill>
                <a:latin typeface="Arial"/>
              </a:rPr>
              <a:t>esse mercado não quer mais uma promessa de venda — quer parar de fazer a conta de madrugada.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914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IDENTIDADE VIRA CRIATIVO — E O CRIATIVO PERSEGUE A VENDA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914400"/>
            <a:ext cx="5309463" cy="16002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485226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QUALQUER IA · MESMO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8522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8A8A86"/>
                </a:solidFill>
                <a:latin typeface="Arial"/>
              </a:rPr>
              <a:t>“Cadastre seu restaurante no iFood e venda mais!”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6431" y="914400"/>
            <a:ext cx="5309463" cy="16002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5031" y="1097280"/>
            <a:ext cx="485226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COM A MARCA LIDA 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5031" y="1463040"/>
            <a:ext cx="48522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F3EFE5"/>
                </a:solidFill>
                <a:latin typeface="Arial"/>
              </a:rPr>
              <a:t>“Toda taxa zero tem prazo de validade. Aqui a taxa fica na mesa — e quem faz a conta somos nós.”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432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8A49B"/>
                </a:solidFill>
                <a:latin typeface="Arial"/>
              </a:rPr>
              <a:t>Ele não chutou o ângulo: leu que a dor é hora perdida na planilha e taxa que só aparece depois. </a:t>
            </a:r>
            <a:r>
              <a:rPr sz="1200" b="0">
                <a:solidFill>
                  <a:srgbClr val="FFD400"/>
                </a:solidFill>
                <a:latin typeface="Arial"/>
              </a:rPr>
              <a:t>E não para no vídeo — passa a ler o funil e agir onde ele vaza.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Interação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Ninguém para no vídeo?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Reescreve o gancho.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7907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6195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195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Clique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195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Assiste e não clica?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195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Troca a promessa.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235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5523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523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Landing page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523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Entra e sai na hora?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523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Testa outra página.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63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4851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851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Oferta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851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Chega e não fecha?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851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Reposiciona a oferta.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58919" y="3520440"/>
            <a:ext cx="2046975" cy="2103120"/>
          </a:xfrm>
          <a:prstGeom prst="rect">
            <a:avLst/>
          </a:prstGeom>
          <a:solidFill>
            <a:srgbClr val="FFD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4179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0A0A0A"/>
                </a:solidFill>
                <a:latin typeface="Courier New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179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A0A0A"/>
                </a:solidFill>
                <a:latin typeface="Arial"/>
              </a:rPr>
              <a:t>Venda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179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A0A0A"/>
                </a:solidFill>
                <a:latin typeface="Arial"/>
              </a:rPr>
              <a:t>A tag devolve o sinal.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179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0A0A0A"/>
                </a:solidFill>
                <a:latin typeface="Arial"/>
              </a:rPr>
              <a:t>O diagnóstico aprende.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QUEM PAGA — E POR QUE NÃO COPIAM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3EFE5"/>
                </a:solidFill>
                <a:latin typeface="Arial"/>
              </a:rPr>
              <a:t>O contrato é com a rede, não com a loja.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20">
                <a:solidFill>
                  <a:srgbClr val="8A8A86"/>
                </a:solidFill>
                <a:latin typeface="Courier New"/>
              </a:rPr>
              <a:t>CLIENTE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2112264"/>
            <a:ext cx="8259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3EFE5"/>
                </a:solidFill>
                <a:latin typeface="Arial"/>
              </a:rPr>
              <a:t>Rede e franquia de varejo local. Vende uma vez, atende N unidades.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715768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99008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20">
                <a:solidFill>
                  <a:srgbClr val="8A8A86"/>
                </a:solidFill>
                <a:latin typeface="Courier New"/>
              </a:rPr>
              <a:t>TAMANHO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953512"/>
            <a:ext cx="8259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3EFE5"/>
                </a:solidFill>
                <a:latin typeface="Arial"/>
              </a:rPr>
              <a:t>Só o iFood tem 500 mil estabelecimentos em 1.500 cidades. É o piso.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57016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83133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20">
                <a:solidFill>
                  <a:srgbClr val="8A8A86"/>
                </a:solidFill>
                <a:latin typeface="Courier New"/>
              </a:rPr>
              <a:t>ALTERNATIVA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3794760"/>
            <a:ext cx="8259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3EFE5"/>
                </a:solidFill>
                <a:latin typeface="Arial"/>
              </a:rPr>
              <a:t>Quatro fornecedores — pesquisa, redator, produtora, tráfego. Ou uma planilha vendida no YouTube.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398264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672584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20">
                <a:solidFill>
                  <a:srgbClr val="8A8A86"/>
                </a:solidFill>
                <a:latin typeface="Courier New"/>
              </a:rPr>
              <a:t>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636008"/>
            <a:ext cx="8259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3EFE5"/>
                </a:solidFill>
                <a:latin typeface="Arial"/>
              </a:rPr>
              <a:t>Assinatura por unidade/mês.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239512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51383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20">
                <a:solidFill>
                  <a:srgbClr val="8A8A86"/>
                </a:solidFill>
                <a:latin typeface="Courier New"/>
              </a:rPr>
              <a:t>DEFENSIBILIDADE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5477256"/>
            <a:ext cx="8259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3EFE5"/>
                </a:solidFill>
                <a:latin typeface="Arial"/>
              </a:rPr>
              <a:t>Cada campanha devolve o que converteu, para quem e com qual mecanismo. Copia-se o prompt numa tarde; não se copia o histórico.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6080760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D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141732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A0A0A"/>
                </a:solidFill>
                <a:latin typeface="Arial"/>
              </a:rPr>
              <a:t>brandloop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77440"/>
            <a:ext cx="9326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A IA que aprende a sua marca antes de falar por ela.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2C2C22"/>
                </a:solidFill>
                <a:latin typeface="Arial"/>
              </a:rPr>
              <a:t>Não somos a agência do iFood — ele é o caso mais difícil do Brasil agora, e vocês conseguem verificar tudo o que o agente concluiu.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BACKUP — NÃO APRESENTAR · ABRIR SE PERGUNTAREM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3EFE5"/>
                </a:solidFill>
                <a:latin typeface="Arial"/>
              </a:rPr>
              <a:t>O que é real e o que é simulado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9FF5D0"/>
                </a:solidFill>
                <a:latin typeface="Courier New"/>
              </a:rPr>
              <a:t>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205740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Contexto e entrevista — /api/ingest e /api/interview, adapter Anthropic + OpenAI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889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9FF5D0"/>
                </a:solidFill>
                <a:latin typeface="Courier New"/>
              </a:rPr>
              <a:t>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74320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Análise de mercado — /api/research, Gorilla API, 1.516 conversas, search_id verificável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9FF5D0"/>
                </a:solidFill>
                <a:latin typeface="Courier New"/>
              </a:rPr>
              <a:t>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342900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Roteiro e criativo — /api/copy e /api/video, providers plugáveis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60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8A8A86"/>
                </a:solidFill>
                <a:latin typeface="Courier New"/>
              </a:rPr>
              <a:t>SIMULADO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411480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Publicação e campanha — simulado: true forçado pelo contrato de tipos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46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8A8A86"/>
                </a:solidFill>
                <a:latin typeface="Courier New"/>
              </a:rPr>
              <a:t>SIMULADO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80060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Performance — ROAS de 8 semanas não cabe em 5 horas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715000"/>
            <a:ext cx="108200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A49B"/>
                </a:solidFill>
                <a:latin typeface="Arial"/>
              </a:rPr>
              <a:t>A performance roda em ambiente de simulação — o mesmo harness que usaríamos para evals em produção. </a:t>
            </a:r>
            <a:r>
              <a:rPr sz="1300" b="0">
                <a:solidFill>
                  <a:srgbClr val="FFD400"/>
                </a:solidFill>
                <a:latin typeface="Arial"/>
              </a:rPr>
              <a:t>A diferença entre esconder e escolher é o que estamos mostrando aqui.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