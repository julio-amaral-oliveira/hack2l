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0:00–0:25 — Abrir pela tensão. Não explicar demais.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0:25–0:50 — É o slide que responde ao critério do hackathon. Onde a IA trabalha.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0:50–1:15 — A entrevista com as lideranças vem ANTES da pesquisa de mercado.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1:15–1:40 — O mérito é a CONCLUSÃO, não a infraestrutura de busca.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1:40–2:20 — O funil mostra a AÇÃO do agente, não só o nome da etapa.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2:20–2:45 — Definir o valor da assinatura antes do pitch.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2:45–3:00 — Fecho. Benchmark, não cliente.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backup. Só abrir se perguntarem o que é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4864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HACK2L · AI AGENTS · CANASTRA VENTURES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377440"/>
            <a:ext cx="1082009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3EFE5"/>
                </a:solidFill>
                <a:latin typeface="Arial"/>
              </a:rPr>
              <a:t>A IA ensinou todo mundo a fazer anúncio.</a:t>
            </a:r>
          </a:p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D400"/>
                </a:solidFill>
                <a:latin typeface="Arial"/>
              </a:rPr>
              <a:t>E todo anúncio a parecer igual.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O QUE A BRANDLOOP 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F3EFE5"/>
                </a:solidFill>
                <a:latin typeface="Arial"/>
              </a:rPr>
              <a:t>Não é um prompt.</a:t>
            </a:r>
          </a:p>
          <a:p>
            <a:pPr algn="l">
              <a:lnSpc>
                <a:spcPct val="105000"/>
              </a:lnSpc>
            </a:pPr>
            <a:r>
              <a:rPr sz="2800" b="1">
                <a:solidFill>
                  <a:srgbClr val="F3EFE5"/>
                </a:solidFill>
                <a:latin typeface="Arial"/>
              </a:rPr>
              <a:t>São seis agentes com contrato entre eles.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423160"/>
            <a:ext cx="3520440" cy="169164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2587752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FFD400"/>
                </a:solidFill>
                <a:latin typeface="Courier New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807208"/>
            <a:ext cx="31181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Contexto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3136391"/>
            <a:ext cx="31181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A8A49B"/>
                </a:solidFill>
                <a:latin typeface="Arial"/>
              </a:rPr>
              <a:t>Lê os arquivos da empresa e extrai fatos sob schema — não pode inventar o que não está no texto.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803904"/>
            <a:ext cx="31181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A8A86"/>
                </a:solidFill>
                <a:latin typeface="Courier New"/>
              </a:rPr>
              <a:t>/api/ingest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7408" y="2423160"/>
            <a:ext cx="3520440" cy="169164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8576" y="2587752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FFD400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8576" y="2807208"/>
            <a:ext cx="31181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Entrevista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8576" y="3136391"/>
            <a:ext cx="31181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A8A49B"/>
                </a:solidFill>
                <a:latin typeface="Arial"/>
              </a:rPr>
              <a:t>Decide sozinho a próxima pergunta olhando quais campos do diagnóstico ainda estão vazios.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8576" y="3803904"/>
            <a:ext cx="31181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A8A86"/>
                </a:solidFill>
                <a:latin typeface="Courier New"/>
              </a:rPr>
              <a:t>/api/interview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9016" y="2423160"/>
            <a:ext cx="3520440" cy="169164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0184" y="2587752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FFD400"/>
                </a:solidFill>
                <a:latin typeface="Courier New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0184" y="2807208"/>
            <a:ext cx="31181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Mercado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0184" y="3136391"/>
            <a:ext cx="31181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A8A49B"/>
                </a:solidFill>
                <a:latin typeface="Arial"/>
              </a:rPr>
              <a:t>Busca conversa real e devolve o diagnóstico preenchido, com a URL de cada evidência.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0184" y="3803904"/>
            <a:ext cx="31181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A8A86"/>
                </a:solidFill>
                <a:latin typeface="Courier New"/>
              </a:rPr>
              <a:t>/api/research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315968"/>
            <a:ext cx="3520440" cy="169164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448056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FFD400"/>
                </a:solidFill>
                <a:latin typeface="Courier New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" y="4700016"/>
            <a:ext cx="31181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Roteiro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5029200"/>
            <a:ext cx="31181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A8A49B"/>
                </a:solidFill>
                <a:latin typeface="Arial"/>
              </a:rPr>
              <a:t>Escreve sob a rubrica de Schwartz como restrição tipada — sem prova, ele reformula.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5696712"/>
            <a:ext cx="31181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A8A86"/>
                </a:solidFill>
                <a:latin typeface="Courier New"/>
              </a:rPr>
              <a:t>/api/copy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07408" y="4315968"/>
            <a:ext cx="3520440" cy="169164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08576" y="448056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FFD400"/>
                </a:solidFill>
                <a:latin typeface="Courier New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08576" y="4700016"/>
            <a:ext cx="31181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Criativo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08576" y="5029200"/>
            <a:ext cx="31181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A8A49B"/>
                </a:solidFill>
                <a:latin typeface="Arial"/>
              </a:rPr>
              <a:t>Gera o vídeo vertical e o áudio com a voz da marca, por provider plugável.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8576" y="5696712"/>
            <a:ext cx="31181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A8A86"/>
                </a:solidFill>
                <a:latin typeface="Courier New"/>
              </a:rPr>
              <a:t>/api/video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29016" y="4315968"/>
            <a:ext cx="3520440" cy="169164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0184" y="448056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FFD400"/>
                </a:solidFill>
                <a:latin typeface="Courier New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0184" y="4700016"/>
            <a:ext cx="31181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Anúncio e funil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0184" y="5029200"/>
            <a:ext cx="31181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A8A49B"/>
                </a:solidFill>
                <a:latin typeface="Arial"/>
              </a:rPr>
              <a:t>Publica, lê a performance e decide onde mexer, dentro de um envelope de verba.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0184" y="5696712"/>
            <a:ext cx="31181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A8A86"/>
                </a:solidFill>
                <a:latin typeface="Courier New"/>
              </a:rPr>
              <a:t>/api/publish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6126480"/>
            <a:ext cx="108200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FFD400"/>
                </a:solidFill>
                <a:latin typeface="Arial"/>
              </a:rPr>
              <a:t>Nenhuma etapa espera humano para começar a próxima.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4864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PRIMEIRO PASSO — A INVERSÃO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9601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F3EFE5"/>
                </a:solidFill>
                <a:latin typeface="Arial"/>
              </a:rPr>
              <a:t>A BrandLoop começa onde as outras IAs terminam: na marca.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468880"/>
            <a:ext cx="9692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A8A49B"/>
                </a:solidFill>
                <a:latin typeface="Arial"/>
              </a:rPr>
              <a:t>Antes de escrever uma linha, o agente entrevista as lideranças da empresa. Uma pergunta por vez, cada uma mirando só o campo que ainda falta — porque o material institucional diz o que a empresa gostaria de ser, e quem vende sabe qual objeção mata o negócio na terça-feira.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977639"/>
            <a:ext cx="3520440" cy="155448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150">
                <a:solidFill>
                  <a:srgbClr val="FF664A"/>
                </a:solidFill>
                <a:latin typeface="Courier New"/>
              </a:rPr>
              <a:t>TOM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617720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F3EFE5"/>
                </a:solidFill>
                <a:latin typeface="Arial"/>
              </a:rPr>
              <a:t>Como a marca fala quando é ela mesma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7408" y="3977639"/>
            <a:ext cx="3520440" cy="155448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8" y="420624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150">
                <a:solidFill>
                  <a:srgbClr val="9FF5D0"/>
                </a:solidFill>
                <a:latin typeface="Courier New"/>
              </a:rPr>
              <a:t>PÚBLICO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8" y="4617720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F3EFE5"/>
                </a:solidFill>
                <a:latin typeface="Arial"/>
              </a:rPr>
              <a:t>Quem compra, e qual objeção trava a venda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29016" y="3977639"/>
            <a:ext cx="3520440" cy="155448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7616" y="420624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150">
                <a:solidFill>
                  <a:srgbClr val="A78BFA"/>
                </a:solidFill>
                <a:latin typeface="Courier New"/>
              </a:rPr>
              <a:t>ESTÉTICA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7616" y="4617720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F3EFE5"/>
                </a:solidFill>
                <a:latin typeface="Arial"/>
              </a:rPr>
              <a:t>O que a faz reconhecível sem o logo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4864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SÓ DEPOIS — A VERIFICAÇÃO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F3EFE5"/>
                </a:solidFill>
                <a:latin typeface="Arial"/>
              </a:rPr>
              <a:t>Aí sim ele confere lá fora se é isso mesmo.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148840"/>
            <a:ext cx="10820095" cy="123444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orilla-logo-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377440"/>
            <a:ext cx="561340" cy="777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920240" y="239572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50">
                <a:solidFill>
                  <a:srgbClr val="8A8A86"/>
                </a:solidFill>
                <a:latin typeface="Courier New"/>
              </a:rPr>
              <a:t>ANÁLISE DE MERCADO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26974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A8A49B"/>
                </a:solidFill>
                <a:latin typeface="Arial"/>
              </a:rPr>
              <a:t>Reddit · X · Bluesky · LinkedIn · YouTube — conversa real, em tempo real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611880"/>
            <a:ext cx="3520440" cy="13716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84048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3EFE5"/>
                </a:solidFill>
                <a:latin typeface="Arial"/>
              </a:rPr>
              <a:t>1.516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2628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CONVERSAS REAIS LIDAS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3611880"/>
            <a:ext cx="3520440" cy="13716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8" y="384048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3EFE5"/>
                </a:solidFill>
                <a:latin typeface="Arial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452628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PLATAFORMAS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9016" y="3611880"/>
            <a:ext cx="3520440" cy="13716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57616" y="384048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3EFE5"/>
                </a:solidFill>
                <a:latin typeface="Arial"/>
              </a:rPr>
              <a:t>&lt; 3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7616" y="452628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MENOS QUE ESTE PITCH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349240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F3EFE5"/>
                </a:solidFill>
                <a:latin typeface="Arial"/>
              </a:rPr>
              <a:t>E o que ele concluiu: </a:t>
            </a:r>
            <a:r>
              <a:rPr sz="1300" b="0">
                <a:solidFill>
                  <a:srgbClr val="A8A49B"/>
                </a:solidFill>
                <a:latin typeface="Arial"/>
              </a:rPr>
              <a:t>esse mercado não quer mais uma promessa de venda — quer parar de fazer a conta de madrugada.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9144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IDENTIDADE VIRA CRIATIVO — E O CRIATIVO PERSEGUE A VENDA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914400"/>
            <a:ext cx="5309463" cy="16002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4852263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QUALQUER IA · MESMO MODELO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48522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8A8A86"/>
                </a:solidFill>
                <a:latin typeface="Arial"/>
              </a:rPr>
              <a:t>“Cadastre seu restaurante no iFood e venda mais!”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6196431" y="914400"/>
            <a:ext cx="5309463" cy="16002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25031" y="1097280"/>
            <a:ext cx="4852263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FFD400"/>
                </a:solidFill>
                <a:latin typeface="Courier New"/>
              </a:rPr>
              <a:t>COM A MARCA LIDA ANTES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25031" y="1463040"/>
            <a:ext cx="4852263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F3EFE5"/>
                </a:solidFill>
                <a:latin typeface="Arial"/>
              </a:rPr>
              <a:t>“Toda taxa zero tem prazo de validade. Aqui a taxa fica na mesa — e quem faz a conta somos nós.”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43200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8A49B"/>
                </a:solidFill>
                <a:latin typeface="Arial"/>
              </a:rPr>
              <a:t>Ele não chutou o ângulo: leu que a dor é hora perdida na planilha e taxa que só aparece depois. </a:t>
            </a:r>
            <a:r>
              <a:rPr sz="1200" b="0">
                <a:solidFill>
                  <a:srgbClr val="FFD400"/>
                </a:solidFill>
                <a:latin typeface="Arial"/>
              </a:rPr>
              <a:t>E não para no vídeo — passa a ler o funil e agir onde ele vaza.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520440"/>
            <a:ext cx="2046975" cy="210312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70332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8A8A86"/>
                </a:solidFill>
                <a:latin typeface="Courier New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950208"/>
            <a:ext cx="1681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Interação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434840"/>
            <a:ext cx="1681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A8A49B"/>
                </a:solidFill>
                <a:latin typeface="Arial"/>
              </a:rPr>
              <a:t>Ninguém para no vídeo?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029200"/>
            <a:ext cx="16812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FFD400"/>
                </a:solidFill>
                <a:latin typeface="Arial"/>
              </a:rPr>
              <a:t>Reescreve o gancho.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79079" y="3520440"/>
            <a:ext cx="2046975" cy="210312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61959" y="370332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8A8A8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1959" y="3950208"/>
            <a:ext cx="1681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Clique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1959" y="4434840"/>
            <a:ext cx="1681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A8A49B"/>
                </a:solidFill>
                <a:latin typeface="Arial"/>
              </a:rPr>
              <a:t>Assiste e não clica?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1959" y="5029200"/>
            <a:ext cx="16812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FFD400"/>
                </a:solidFill>
                <a:latin typeface="Arial"/>
              </a:rPr>
              <a:t>Troca a promessa.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72359" y="3520440"/>
            <a:ext cx="2046975" cy="210312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55239" y="370332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8A8A86"/>
                </a:solidFill>
                <a:latin typeface="Courier New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5239" y="3950208"/>
            <a:ext cx="1681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Landing page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5239" y="4434840"/>
            <a:ext cx="1681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A8A49B"/>
                </a:solidFill>
                <a:latin typeface="Arial"/>
              </a:rPr>
              <a:t>Entra e sai na hora?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5239" y="5029200"/>
            <a:ext cx="16812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FFD400"/>
                </a:solidFill>
                <a:latin typeface="Arial"/>
              </a:rPr>
              <a:t>Testa outra página.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65639" y="3520440"/>
            <a:ext cx="2046975" cy="210312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48519" y="370332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8A8A86"/>
                </a:solidFill>
                <a:latin typeface="Courier New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8519" y="3950208"/>
            <a:ext cx="1681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Oferta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48519" y="4434840"/>
            <a:ext cx="1681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A8A49B"/>
                </a:solidFill>
                <a:latin typeface="Arial"/>
              </a:rPr>
              <a:t>Chega e não fecha?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8519" y="5029200"/>
            <a:ext cx="16812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FFD400"/>
                </a:solidFill>
                <a:latin typeface="Arial"/>
              </a:rPr>
              <a:t>Reposiciona a oferta.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58919" y="3520440"/>
            <a:ext cx="2046975" cy="2103120"/>
          </a:xfrm>
          <a:prstGeom prst="rect">
            <a:avLst/>
          </a:prstGeom>
          <a:solidFill>
            <a:srgbClr val="FFD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41799" y="370332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0A0A0A"/>
                </a:solidFill>
                <a:latin typeface="Courier New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41799" y="3950208"/>
            <a:ext cx="1681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A0A0A"/>
                </a:solidFill>
                <a:latin typeface="Arial"/>
              </a:rPr>
              <a:t>Venda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41799" y="4434840"/>
            <a:ext cx="1681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0A0A0A"/>
                </a:solidFill>
                <a:latin typeface="Arial"/>
              </a:rPr>
              <a:t>A tag devolve o sinal.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41799" y="5029200"/>
            <a:ext cx="16812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0A0A0A"/>
                </a:solidFill>
                <a:latin typeface="Arial"/>
              </a:rPr>
              <a:t>O diagnóstico aprende.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4864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QUEM PAGA — E POR QUE NÃO COPIAM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9601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3EFE5"/>
                </a:solidFill>
                <a:latin typeface="Arial"/>
              </a:rPr>
              <a:t>O contrato é com a rede, não com a loja.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4884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spc="120">
                <a:solidFill>
                  <a:srgbClr val="8A8A86"/>
                </a:solidFill>
                <a:latin typeface="Courier New"/>
              </a:rPr>
              <a:t>CLIENTE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46120" y="2112264"/>
            <a:ext cx="82597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F3EFE5"/>
                </a:solidFill>
                <a:latin typeface="Arial"/>
              </a:rPr>
              <a:t>Rede e franquia de varejo local. Vende uma vez, atende N unidades.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715768"/>
            <a:ext cx="10820095" cy="10972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990088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spc="120">
                <a:solidFill>
                  <a:srgbClr val="8A8A86"/>
                </a:solidFill>
                <a:latin typeface="Courier New"/>
              </a:rPr>
              <a:t>TAMANHO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2953512"/>
            <a:ext cx="82597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F3EFE5"/>
                </a:solidFill>
                <a:latin typeface="Arial"/>
              </a:rPr>
              <a:t>Só o iFood tem 500 mil estabelecimentos em 1.500 cidades. É o piso.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557016"/>
            <a:ext cx="10820095" cy="10972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831336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spc="120">
                <a:solidFill>
                  <a:srgbClr val="8A8A86"/>
                </a:solidFill>
                <a:latin typeface="Courier New"/>
              </a:rPr>
              <a:t>ALTERNATIVA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3794760"/>
            <a:ext cx="82597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F3EFE5"/>
                </a:solidFill>
                <a:latin typeface="Arial"/>
              </a:rPr>
              <a:t>Quatro fornecedores — pesquisa, redator, produtora, tráfego. Ou uma planilha vendida no YouTube.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398264"/>
            <a:ext cx="10820095" cy="10972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672584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spc="120">
                <a:solidFill>
                  <a:srgbClr val="8A8A86"/>
                </a:solidFill>
                <a:latin typeface="Courier New"/>
              </a:rPr>
              <a:t>MODELO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4636008"/>
            <a:ext cx="82597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F3EFE5"/>
                </a:solidFill>
                <a:latin typeface="Arial"/>
              </a:rPr>
              <a:t>Assinatura por unidade/mês.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5239512"/>
            <a:ext cx="10820095" cy="10972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513832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spc="120">
                <a:solidFill>
                  <a:srgbClr val="8A8A86"/>
                </a:solidFill>
                <a:latin typeface="Courier New"/>
              </a:rPr>
              <a:t>DEFENSIBILIDADE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5477256"/>
            <a:ext cx="82597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F3EFE5"/>
                </a:solidFill>
                <a:latin typeface="Arial"/>
              </a:rPr>
              <a:t>Cada campanha devolve o que converteu, para quem e com qual mecanismo. Copia-se o prompt numa tarde; não se copia o histórico.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6080760"/>
            <a:ext cx="10820095" cy="10972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D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44168" y="141732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A0A0A"/>
                </a:solidFill>
                <a:latin typeface="Arial"/>
              </a:rPr>
              <a:t>brandloop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377440"/>
            <a:ext cx="93268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A0A0A"/>
                </a:solidFill>
                <a:latin typeface="Arial"/>
              </a:rPr>
              <a:t>A IA que aprende a sua marca antes de falar por ela.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663440"/>
            <a:ext cx="8412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2C2C22"/>
                </a:solidFill>
                <a:latin typeface="Arial"/>
              </a:rPr>
              <a:t>Não somos a agência do iFood — ele é o caso mais difícil do Brasil agora, e vocês conseguem verificar tudo o que o agente concluiu.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4864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BACKUP — NÃO APRESENTAR · ABRIR SE PERGUNTAREM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9601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3EFE5"/>
                </a:solidFill>
                <a:latin typeface="Arial"/>
              </a:rPr>
              <a:t>O que é real e o que é simulado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031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20">
                <a:solidFill>
                  <a:srgbClr val="9FF5D0"/>
                </a:solidFill>
                <a:latin typeface="Courier New"/>
              </a:rPr>
              <a:t>REAL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40280" y="2057400"/>
            <a:ext cx="92656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F3EFE5"/>
                </a:solidFill>
                <a:latin typeface="Arial"/>
              </a:rPr>
              <a:t>Contexto e entrevista — /api/ingest e /api/interview, adapter Anthropic + OpenAI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889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20">
                <a:solidFill>
                  <a:srgbClr val="9FF5D0"/>
                </a:solidFill>
                <a:latin typeface="Courier New"/>
              </a:rPr>
              <a:t>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2743200"/>
            <a:ext cx="92656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F3EFE5"/>
                </a:solidFill>
                <a:latin typeface="Arial"/>
              </a:rPr>
              <a:t>Análise de mercado — /api/research, Gorilla API, 1.516 conversas, search_id verificável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4747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20">
                <a:solidFill>
                  <a:srgbClr val="9FF5D0"/>
                </a:solidFill>
                <a:latin typeface="Courier New"/>
              </a:rPr>
              <a:t>REAL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3429000"/>
            <a:ext cx="92656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F3EFE5"/>
                </a:solidFill>
                <a:latin typeface="Arial"/>
              </a:rPr>
              <a:t>Roteiro e criativo — /api/copy e /api/video, providers plugáveis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160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20">
                <a:solidFill>
                  <a:srgbClr val="8A8A86"/>
                </a:solidFill>
                <a:latin typeface="Courier New"/>
              </a:rPr>
              <a:t>SIMULADO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80" y="4114800"/>
            <a:ext cx="92656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F3EFE5"/>
                </a:solidFill>
                <a:latin typeface="Arial"/>
              </a:rPr>
              <a:t>Publicação e campanha — simulado: true forçado pelo contrato de tipos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8463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20">
                <a:solidFill>
                  <a:srgbClr val="8A8A86"/>
                </a:solidFill>
                <a:latin typeface="Courier New"/>
              </a:rPr>
              <a:t>SIMULADO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4800600"/>
            <a:ext cx="92656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F3EFE5"/>
                </a:solidFill>
                <a:latin typeface="Arial"/>
              </a:rPr>
              <a:t>Performance — ROAS de 8 semanas não cabe em 5 horas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715000"/>
            <a:ext cx="108200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A8A49B"/>
                </a:solidFill>
                <a:latin typeface="Arial"/>
              </a:rPr>
              <a:t>A performance roda em ambiente de simulação — o mesmo harness que usaríamos para evals em produção. </a:t>
            </a:r>
            <a:r>
              <a:rPr sz="1300" b="0">
                <a:solidFill>
                  <a:srgbClr val="FFD400"/>
                </a:solidFill>
                <a:latin typeface="Arial"/>
              </a:rPr>
              <a:t>A diferença entre esconder e escolher é o que estamos mostrando aqui.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